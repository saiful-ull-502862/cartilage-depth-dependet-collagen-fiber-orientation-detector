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99"/>
                </a:solidFill>
              </a:defRPr>
            </a:pPr>
            <a:r>
              <a:t>Methodology: Collagen Fibril Orientation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Image Processing &amp; Quantitative Comparative Analysis</a:t>
            </a:r>
          </a:p>
          <a:p>
            <a:r>
              <a:t>Based on Polarized Light Microscopy (PLM)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99"/>
                </a:solidFill>
              </a:defRPr>
            </a:pPr>
            <a:r>
              <a:t>Workflow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/>
            </a:pPr>
            <a:r>
              <a:t>1. Image Acquisition &amp; Preprocessing (HSV Conversion)</a:t>
            </a:r>
          </a:p>
          <a:p>
            <a:pPr>
              <a:spcAft>
                <a:spcPts val="1200"/>
              </a:spcAft>
              <a:defRPr sz="2200"/>
            </a:pPr>
            <a:r>
              <a:t>2. ROI Selection &amp; Noise Masking</a:t>
            </a:r>
          </a:p>
          <a:p>
            <a:pPr>
              <a:spcAft>
                <a:spcPts val="1200"/>
              </a:spcAft>
              <a:defRPr sz="2200"/>
            </a:pPr>
            <a:r>
              <a:t>3. Standardized Zone Segmentation (SZ, MZ, DZ)</a:t>
            </a:r>
          </a:p>
          <a:p>
            <a:pPr>
              <a:spcAft>
                <a:spcPts val="1200"/>
              </a:spcAft>
              <a:defRPr sz="2200"/>
            </a:pPr>
            <a:r>
              <a:t>4. Reference-Based Color Calibration</a:t>
            </a:r>
          </a:p>
          <a:p>
            <a:pPr>
              <a:spcAft>
                <a:spcPts val="1200"/>
              </a:spcAft>
              <a:defRPr sz="2200"/>
            </a:pPr>
            <a:r>
              <a:t>5. Mathematical Angle Calculation</a:t>
            </a:r>
          </a:p>
          <a:p>
            <a:pPr>
              <a:spcAft>
                <a:spcPts val="1200"/>
              </a:spcAft>
              <a:defRPr sz="2200"/>
            </a:pPr>
            <a:r>
              <a:t>6. Comparative Analysis (Healthy vs. Degraded)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99"/>
                </a:solidFill>
              </a:defRPr>
            </a:pPr>
            <a:r>
              <a:t>1. Image Processing &amp; Masking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/>
            </a:pPr>
            <a:r>
              <a:t>• Input: PLM Image (BGR format).</a:t>
            </a:r>
          </a:p>
          <a:p>
            <a:pPr>
              <a:spcAft>
                <a:spcPts val="1200"/>
              </a:spcAft>
              <a:defRPr sz="2200"/>
            </a:pPr>
            <a:r>
              <a:t>• Conversion: Transformed to HSV Color Space.</a:t>
            </a:r>
          </a:p>
          <a:p>
            <a:pPr>
              <a:spcAft>
                <a:spcPts val="1200"/>
              </a:spcAft>
              <a:defRPr sz="2200"/>
            </a:pPr>
            <a:r>
              <a:t>    - Hue (0-179): Encodes fibril orientation.</a:t>
            </a:r>
          </a:p>
          <a:p>
            <a:pPr>
              <a:spcAft>
                <a:spcPts val="1200"/>
              </a:spcAft>
              <a:defRPr sz="2200"/>
            </a:pPr>
            <a:r>
              <a:t>    - Saturation (S) &amp; Value (V): Used for filtering.</a:t>
            </a:r>
          </a:p>
          <a:p>
            <a:pPr>
              <a:spcAft>
                <a:spcPts val="1200"/>
              </a:spcAft>
              <a:defRPr sz="2200"/>
            </a:pPr>
            <a:r>
              <a:t>• Noise Reduction: Dual-threshold mask applied.</a:t>
            </a:r>
          </a:p>
          <a:p>
            <a:pPr>
              <a:spcAft>
                <a:spcPts val="1200"/>
              </a:spcAft>
              <a:defRPr sz="2200"/>
            </a:pPr>
            <a:r>
              <a:t>    - Excluded pixels where S &lt; 10 or V &lt; 10.</a:t>
            </a:r>
          </a:p>
          <a:p>
            <a:pPr>
              <a:spcAft>
                <a:spcPts val="1200"/>
              </a:spcAft>
              <a:defRPr sz="2200"/>
            </a:pPr>
            <a:r>
              <a:t>    - Ensures analysis only on birefringent tissue.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99"/>
                </a:solidFill>
              </a:defRPr>
            </a:pPr>
            <a:r>
              <a:t>2. Standardized Zone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/>
            </a:pPr>
            <a:r>
              <a:t>• Zones defined by normalized tissue thickness:</a:t>
            </a:r>
          </a:p>
          <a:p>
            <a:pPr>
              <a:spcAft>
                <a:spcPts val="1200"/>
              </a:spcAft>
              <a:defRPr sz="2200"/>
            </a:pPr>
            <a:r>
              <a:t>    - Superficial Zone (SZ): 0% – 10%</a:t>
            </a:r>
          </a:p>
          <a:p>
            <a:pPr>
              <a:spcAft>
                <a:spcPts val="1200"/>
              </a:spcAft>
              <a:defRPr sz="2200"/>
            </a:pPr>
            <a:r>
              <a:t>    - Middle Zone (MZ): 10% – 40%</a:t>
            </a:r>
          </a:p>
          <a:p>
            <a:pPr>
              <a:spcAft>
                <a:spcPts val="1200"/>
              </a:spcAft>
              <a:defRPr sz="2200"/>
            </a:pPr>
            <a:r>
              <a:t>    - Deep Zone (DZ): 40% – 100%</a:t>
            </a:r>
          </a:p>
          <a:p>
            <a:pPr>
              <a:spcAft>
                <a:spcPts val="1200"/>
              </a:spcAft>
              <a:defRPr sz="2200"/>
            </a:pPr>
            <a:r>
              <a:t>• Purpose: Ensures anatomical consistency across all samples (Femoral, Tibial, etc).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99"/>
                </a:solidFill>
              </a:defRPr>
            </a:pPr>
            <a:r>
              <a:t>3. Reference-Based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/>
            </a:pPr>
            <a:r>
              <a:t>• Reference Image: One healthy sample selected per group (e.g., Healthy Femur).</a:t>
            </a:r>
          </a:p>
          <a:p>
            <a:pPr>
              <a:spcAft>
                <a:spcPts val="1200"/>
              </a:spcAft>
              <a:defRPr sz="2200"/>
            </a:pPr>
            <a:r>
              <a:t>• Anchors Defined:</a:t>
            </a:r>
          </a:p>
          <a:p>
            <a:pPr>
              <a:spcAft>
                <a:spcPts val="1200"/>
              </a:spcAft>
              <a:defRPr sz="2200"/>
            </a:pPr>
            <a:r>
              <a:t>    - H₀: Median Hue of SZ (mapped to 0°).</a:t>
            </a:r>
          </a:p>
          <a:p>
            <a:pPr>
              <a:spcAft>
                <a:spcPts val="1200"/>
              </a:spcAft>
              <a:defRPr sz="2200"/>
            </a:pPr>
            <a:r>
              <a:t>    - H₉₀: Median Hue of DZ (mapped to 90°).</a:t>
            </a:r>
          </a:p>
          <a:p>
            <a:pPr>
              <a:spcAft>
                <a:spcPts val="1200"/>
              </a:spcAft>
              <a:defRPr sz="2200"/>
            </a:pPr>
            <a:r>
              <a:t>• Application: These H₀ and H₉₀ values are applied to all degraded samples (EOA, MOA, AOA) for direct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99"/>
                </a:solidFill>
              </a:defRPr>
            </a:pPr>
            <a:r>
              <a:t>4. Angle Calculation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/>
            </a:pPr>
            <a:r>
              <a:t>• Equation: θ = [(H − H₀) / (H₉₀ − H₀)] × 90°</a:t>
            </a:r>
          </a:p>
          <a:p>
            <a:pPr>
              <a:spcAft>
                <a:spcPts val="1200"/>
              </a:spcAft>
              <a:defRPr sz="2200"/>
            </a:pPr>
            <a:r>
              <a:t>• Method:</a:t>
            </a:r>
          </a:p>
          <a:p>
            <a:pPr>
              <a:spcAft>
                <a:spcPts val="1200"/>
              </a:spcAft>
              <a:defRPr sz="2200"/>
            </a:pPr>
            <a:r>
              <a:t>    - ROI sliced into 100 normalized depth bins.</a:t>
            </a:r>
          </a:p>
          <a:p>
            <a:pPr>
              <a:spcAft>
                <a:spcPts val="1200"/>
              </a:spcAft>
              <a:defRPr sz="2200"/>
            </a:pPr>
            <a:r>
              <a:t>    - Circular mean hue calculated for each bin.</a:t>
            </a:r>
          </a:p>
          <a:p>
            <a:pPr>
              <a:spcAft>
                <a:spcPts val="1200"/>
              </a:spcAft>
              <a:defRPr sz="2200"/>
            </a:pPr>
            <a:r>
              <a:t>    - Linear interpolation determines angle θ.</a:t>
            </a:r>
          </a:p>
          <a:p>
            <a:pPr>
              <a:spcAft>
                <a:spcPts val="1200"/>
              </a:spcAft>
              <a:defRPr sz="2200"/>
            </a:pPr>
            <a:r>
              <a:t>• Result: Continuous depth-dependent orientation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99"/>
                </a:solidFill>
              </a:defRPr>
            </a:pPr>
            <a:r>
              <a:t>5. Comparative Analysis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200"/>
            </a:pPr>
            <a:r>
              <a:t>• Groups Analyzed:</a:t>
            </a:r>
          </a:p>
          <a:p>
            <a:pPr>
              <a:spcAft>
                <a:spcPts val="1200"/>
              </a:spcAft>
              <a:defRPr sz="2200"/>
            </a:pPr>
            <a:r>
              <a:t>    - Healthy Reference (Baseline)</a:t>
            </a:r>
          </a:p>
          <a:p>
            <a:pPr>
              <a:spcAft>
                <a:spcPts val="1200"/>
              </a:spcAft>
              <a:defRPr sz="2200"/>
            </a:pPr>
            <a:r>
              <a:t>    - Early OA (EOA)</a:t>
            </a:r>
          </a:p>
          <a:p>
            <a:pPr>
              <a:spcAft>
                <a:spcPts val="1200"/>
              </a:spcAft>
              <a:defRPr sz="2200"/>
            </a:pPr>
            <a:r>
              <a:t>    - Moderate OA (MOA)</a:t>
            </a:r>
          </a:p>
          <a:p>
            <a:pPr>
              <a:spcAft>
                <a:spcPts val="1200"/>
              </a:spcAft>
              <a:defRPr sz="2200"/>
            </a:pPr>
            <a:r>
              <a:t>    - Advanced OA (AOA)</a:t>
            </a:r>
          </a:p>
          <a:p>
            <a:pPr>
              <a:spcAft>
                <a:spcPts val="1200"/>
              </a:spcAft>
              <a:defRPr sz="2200"/>
            </a:pPr>
            <a:r>
              <a:t>• Metric: Overlay of Depth vs. Angle curves.</a:t>
            </a:r>
          </a:p>
          <a:p>
            <a:pPr>
              <a:spcAft>
                <a:spcPts val="1200"/>
              </a:spcAft>
              <a:defRPr sz="2200"/>
            </a:pPr>
            <a:r>
              <a:t>• Goal: Quantify loss of surface tangency and structural disorganization.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